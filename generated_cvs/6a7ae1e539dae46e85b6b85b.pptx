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4" r:id="rId1"/>
    <p:sldMasterId id="2147483715" r:id="rId2"/>
  </p:sldMasterIdLst>
  <p:notesMasterIdLst>
    <p:notesMasterId r:id="rId5"/>
  </p:notesMasterIdLst>
  <p:sldIdLst>
    <p:sldId id="307" r:id="rId3"/>
    <p:sldId id="308" r:id="rId4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6"/>
      <p:bold r:id="rId7"/>
      <p:italic r:id="rId8"/>
      <p:boldItalic r:id="rId9"/>
    </p:embeddedFont>
    <p:embeddedFont>
      <p:font typeface="Montserrat" panose="00000500000000000000" pitchFamily="2" charset="0"/>
      <p:regular r:id="rId10"/>
      <p:bold r:id="rId11"/>
      <p:italic r:id="rId12"/>
      <p:boldItalic r:id="rId13"/>
    </p:embeddedFont>
    <p:embeddedFont>
      <p:font typeface="Montserrat Light" panose="00000400000000000000" pitchFamily="2" charset="0"/>
      <p:regular r:id="rId14"/>
      <p:bold r:id="rId15"/>
      <p:italic r:id="rId16"/>
      <p:boldItalic r:id="rId17"/>
    </p:embeddedFont>
    <p:embeddedFont>
      <p:font typeface="Montserrat Medium" panose="00000600000000000000" pitchFamily="2" charset="0"/>
      <p:regular r:id="rId18"/>
      <p:bold r:id="rId19"/>
      <p:italic r:id="rId20"/>
      <p:boldItalic r:id="rId21"/>
    </p:embeddedFont>
    <p:embeddedFont>
      <p:font typeface="Montserrat SemiBold" panose="00000700000000000000" pitchFamily="2" charset="0"/>
      <p:regular r:id="rId22"/>
      <p:bold r:id="rId23"/>
      <p:italic r:id="rId24"/>
      <p:boldItalic r:id="rId25"/>
    </p:embeddedFont>
    <p:embeddedFont>
      <p:font typeface="Verdana" panose="020B060403050404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96" autoAdjust="0"/>
  </p:normalViewPr>
  <p:slideViewPr>
    <p:cSldViewPr snapToGrid="0">
      <p:cViewPr varScale="1">
        <p:scale>
          <a:sx n="102" d="100"/>
          <a:sy n="102" d="100"/>
        </p:scale>
        <p:origin x="1589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8.fntdata"/><Relationship Id="rId18" Type="http://schemas.openxmlformats.org/officeDocument/2006/relationships/font" Target="fonts/font13.fntdata"/><Relationship Id="rId26" Type="http://schemas.openxmlformats.org/officeDocument/2006/relationships/font" Target="fonts/font21.fntdata"/><Relationship Id="rId3" Type="http://schemas.openxmlformats.org/officeDocument/2006/relationships/slide" Target="slides/slide1.xml"/><Relationship Id="rId21" Type="http://schemas.openxmlformats.org/officeDocument/2006/relationships/font" Target="fonts/font16.fntdata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5" Type="http://schemas.openxmlformats.org/officeDocument/2006/relationships/font" Target="fonts/font20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1.fntdata"/><Relationship Id="rId20" Type="http://schemas.openxmlformats.org/officeDocument/2006/relationships/font" Target="fonts/font15.fntdata"/><Relationship Id="rId29" Type="http://schemas.openxmlformats.org/officeDocument/2006/relationships/font" Target="fonts/font24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24" Type="http://schemas.openxmlformats.org/officeDocument/2006/relationships/font" Target="fonts/font19.fntdata"/><Relationship Id="rId32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23" Type="http://schemas.openxmlformats.org/officeDocument/2006/relationships/font" Target="fonts/font18.fntdata"/><Relationship Id="rId28" Type="http://schemas.openxmlformats.org/officeDocument/2006/relationships/font" Target="fonts/font23.fntdata"/><Relationship Id="rId10" Type="http://schemas.openxmlformats.org/officeDocument/2006/relationships/font" Target="fonts/font5.fntdata"/><Relationship Id="rId19" Type="http://schemas.openxmlformats.org/officeDocument/2006/relationships/font" Target="fonts/font14.fntdata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font" Target="fonts/font17.fntdata"/><Relationship Id="rId27" Type="http://schemas.openxmlformats.org/officeDocument/2006/relationships/font" Target="fonts/font22.fntdata"/><Relationship Id="rId30" Type="http://schemas.openxmlformats.org/officeDocument/2006/relationships/presProps" Target="presProps.xml"/><Relationship Id="rId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924A6FFB-6134-EF9E-6A7E-C50325386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f517f0088e_2_695:notes">
            <a:extLst>
              <a:ext uri="{FF2B5EF4-FFF2-40B4-BE49-F238E27FC236}">
                <a16:creationId xmlns:a16="http://schemas.microsoft.com/office/drawing/2014/main" id="{DAD1A018-DF5F-ECE4-5E64-5D72F18321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6" name="Google Shape;866;g3f517f0088e_2_695:notes">
            <a:extLst>
              <a:ext uri="{FF2B5EF4-FFF2-40B4-BE49-F238E27FC236}">
                <a16:creationId xmlns:a16="http://schemas.microsoft.com/office/drawing/2014/main" id="{1C3BA472-989D-3C5B-BC1A-C377FF6937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7933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template - keep it empty">
  <p:cSld name="Blank template - keep it empt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sldNum" idx="12"/>
          </p:nvPr>
        </p:nvSpPr>
        <p:spPr>
          <a:xfrm>
            <a:off x="8556775" y="4861575"/>
            <a:ext cx="587100" cy="1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4) Content - One title and extra long text">
  <p:cSld name="44) Content - One title and extra long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>
            <a:spLocks noGrp="1"/>
          </p:cNvSpPr>
          <p:nvPr>
            <p:ph type="subTitle" idx="1"/>
          </p:nvPr>
        </p:nvSpPr>
        <p:spPr>
          <a:xfrm>
            <a:off x="587225" y="1165925"/>
            <a:ext cx="3324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"/>
              <a:buNone/>
              <a:defRPr sz="1000" b="1">
                <a:solidFill>
                  <a:srgbClr val="3C3C3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body" idx="2"/>
          </p:nvPr>
        </p:nvSpPr>
        <p:spPr>
          <a:xfrm>
            <a:off x="587225" y="1506375"/>
            <a:ext cx="7885200" cy="29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●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○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■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●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○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■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●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○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■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04" name="Google Shape;104;p22"/>
          <p:cNvSpPr txBox="1">
            <a:spLocks noGrp="1"/>
          </p:cNvSpPr>
          <p:nvPr>
            <p:ph type="title"/>
          </p:nvPr>
        </p:nvSpPr>
        <p:spPr>
          <a:xfrm>
            <a:off x="587225" y="572700"/>
            <a:ext cx="54975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pic>
        <p:nvPicPr>
          <p:cNvPr id="105" name="Google Shape;105;p2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996" y="4776975"/>
            <a:ext cx="229582" cy="2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 type="blank">
  <p:cSld name="BLANK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pic>
        <p:nvPicPr>
          <p:cNvPr id="114" name="Google Shape;114;p2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996" y="4776975"/>
            <a:ext cx="229582" cy="2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only">
  <p:cSld name="Header only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>
            <a:spLocks noGrp="1"/>
          </p:cNvSpPr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None/>
              <a:defRPr sz="2000" b="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117" name="Google Shape;117;p2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996" y="4776975"/>
            <a:ext cx="229582" cy="2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) Empty">
  <p:cSld name="1) Empty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>
            <a:spLocks noGrp="1"/>
          </p:cNvSpPr>
          <p:nvPr>
            <p:ph type="title"/>
          </p:nvPr>
        </p:nvSpPr>
        <p:spPr>
          <a:xfrm>
            <a:off x="674700" y="579450"/>
            <a:ext cx="5826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Blank White template">
  <p:cSld name="16_Blank White templat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>
            <a:spLocks noGrp="1"/>
          </p:cNvSpPr>
          <p:nvPr>
            <p:ph type="sldNum" idx="12"/>
          </p:nvPr>
        </p:nvSpPr>
        <p:spPr>
          <a:xfrm>
            <a:off x="6695471" y="4718888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sp>
        <p:nvSpPr>
          <p:cNvPr id="122" name="Google Shape;122;p27"/>
          <p:cNvSpPr txBox="1">
            <a:spLocks noGrp="1"/>
          </p:cNvSpPr>
          <p:nvPr>
            <p:ph type="title"/>
          </p:nvPr>
        </p:nvSpPr>
        <p:spPr>
          <a:xfrm>
            <a:off x="391130" y="330362"/>
            <a:ext cx="8361675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7"/>
          <p:cNvSpPr txBox="1">
            <a:spLocks noGrp="1"/>
          </p:cNvSpPr>
          <p:nvPr>
            <p:ph type="body" idx="1"/>
          </p:nvPr>
        </p:nvSpPr>
        <p:spPr>
          <a:xfrm>
            <a:off x="391129" y="939998"/>
            <a:ext cx="8361675" cy="18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pic>
        <p:nvPicPr>
          <p:cNvPr id="124" name="Google Shape;124;p2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996" y="4776975"/>
            <a:ext cx="229582" cy="2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" name="Google Shape;127;p28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8" name="Google Shape;128;p2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300" y="4781927"/>
            <a:ext cx="352096" cy="328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>
            <a:spLocks noGrp="1"/>
          </p:cNvSpPr>
          <p:nvPr>
            <p:ph type="title"/>
          </p:nvPr>
        </p:nvSpPr>
        <p:spPr>
          <a:xfrm>
            <a:off x="674700" y="579450"/>
            <a:ext cx="5826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00" b="0" i="0">
                <a:solidFill>
                  <a:srgbClr val="3B3B3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9"/>
          <p:cNvSpPr txBox="1">
            <a:spLocks noGrp="1"/>
          </p:cNvSpPr>
          <p:nvPr>
            <p:ph type="body" idx="1"/>
          </p:nvPr>
        </p:nvSpPr>
        <p:spPr>
          <a:xfrm>
            <a:off x="706450" y="1262075"/>
            <a:ext cx="4556100" cy="20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900" b="0" i="0">
                <a:solidFill>
                  <a:srgbClr val="55545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2" name="Google Shape;132;p29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34" name="Google Shape;134;p2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300" y="4781927"/>
            <a:ext cx="352096" cy="32899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9"/>
          <p:cNvSpPr txBox="1"/>
          <p:nvPr/>
        </p:nvSpPr>
        <p:spPr>
          <a:xfrm>
            <a:off x="4984500" y="4923200"/>
            <a:ext cx="4038600" cy="1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fld id="{00000000-1234-1234-1234-123412341234}" type="slidenum">
              <a:rPr lang="en-GB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‹N°›</a:t>
            </a:fld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) Divider - Title left double pink dots">
  <p:cSld name="10) Divider - Title left double pink dots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>
            <a:spLocks noGrp="1"/>
          </p:cNvSpPr>
          <p:nvPr>
            <p:ph type="body" idx="1"/>
          </p:nvPr>
        </p:nvSpPr>
        <p:spPr>
          <a:xfrm>
            <a:off x="5795700" y="1362925"/>
            <a:ext cx="2761200" cy="21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●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○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■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●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○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■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●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○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■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38" name="Google Shape;138;p30"/>
          <p:cNvSpPr txBox="1">
            <a:spLocks noGrp="1"/>
          </p:cNvSpPr>
          <p:nvPr>
            <p:ph type="title"/>
          </p:nvPr>
        </p:nvSpPr>
        <p:spPr>
          <a:xfrm>
            <a:off x="1080003" y="1800450"/>
            <a:ext cx="3387600" cy="15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2200"/>
              <a:buFont typeface="Montserrat Light"/>
              <a:buNone/>
              <a:defRPr sz="42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pic>
        <p:nvPicPr>
          <p:cNvPr id="139" name="Google Shape;139;p3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655500"/>
            <a:ext cx="591600" cy="14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3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300" y="4781927"/>
            <a:ext cx="352096" cy="32899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0"/>
          <p:cNvSpPr txBox="1"/>
          <p:nvPr/>
        </p:nvSpPr>
        <p:spPr>
          <a:xfrm>
            <a:off x="4565400" y="4783500"/>
            <a:ext cx="40386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</a:pPr>
            <a:fld id="{00000000-1234-1234-1234-123412341234}" type="slidenum">
              <a:rPr lang="en-GB" sz="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‹N°›</a:t>
            </a:fld>
            <a:endParaRPr sz="800" b="0" i="0" u="none" strike="noStrike" cap="non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4) Thank you">
  <p:cSld name="64) Thank you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" y="-25"/>
            <a:ext cx="8817430" cy="495980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019"/>
              </a:srgbClr>
            </a:outerShdw>
          </a:effectLst>
        </p:spPr>
      </p:pic>
      <p:pic>
        <p:nvPicPr>
          <p:cNvPr id="144" name="Google Shape;144;p3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7225" y="553501"/>
            <a:ext cx="1115848" cy="33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1"/>
          <p:cNvSpPr txBox="1"/>
          <p:nvPr/>
        </p:nvSpPr>
        <p:spPr>
          <a:xfrm>
            <a:off x="1080000" y="2073000"/>
            <a:ext cx="69837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lang="en-GB" sz="7100" b="0" i="0" u="none" strike="noStrike" cap="non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Thank</a:t>
            </a:r>
            <a:r>
              <a:rPr lang="en-GB" sz="7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you.</a:t>
            </a:r>
            <a:endParaRPr sz="71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5) Content - Display other material 1">
  <p:cSld name="45) Content - Display other material 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177" r="70151"/>
          <a:stretch/>
        </p:blipFill>
        <p:spPr>
          <a:xfrm rot="5400000" flipH="1">
            <a:off x="7276726" y="-905925"/>
            <a:ext cx="999449" cy="277320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Montserrat"/>
              <a:buNone/>
            </a:pPr>
            <a:fld id="{00000000-1234-1234-1234-123412341234}" type="slidenum">
              <a:rPr lang="en-GB" sz="1000" b="1" i="0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‹N°›</a:t>
            </a:fld>
            <a:endParaRPr sz="1000" b="1" i="0" u="none" strike="noStrike" cap="non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32"/>
          <p:cNvSpPr txBox="1">
            <a:spLocks noGrp="1"/>
          </p:cNvSpPr>
          <p:nvPr>
            <p:ph type="title"/>
          </p:nvPr>
        </p:nvSpPr>
        <p:spPr>
          <a:xfrm>
            <a:off x="587225" y="607050"/>
            <a:ext cx="4821600" cy="2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 b="1">
                <a:solidFill>
                  <a:srgbClr val="9C6E0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4"/>
          <p:cNvSpPr txBox="1">
            <a:spLocks noGrp="1"/>
          </p:cNvSpPr>
          <p:nvPr>
            <p:ph type="sldNum" idx="12"/>
          </p:nvPr>
        </p:nvSpPr>
        <p:spPr>
          <a:xfrm>
            <a:off x="6922240" y="4856789"/>
            <a:ext cx="21030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sp>
        <p:nvSpPr>
          <p:cNvPr id="167" name="Google Shape;167;p34"/>
          <p:cNvSpPr txBox="1">
            <a:spLocks noGrp="1"/>
          </p:cNvSpPr>
          <p:nvPr>
            <p:ph type="dt" idx="10"/>
          </p:nvPr>
        </p:nvSpPr>
        <p:spPr>
          <a:xfrm>
            <a:off x="292261" y="4856789"/>
            <a:ext cx="2103000" cy="107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5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 b="1">
                <a:solidFill>
                  <a:srgbClr val="9C6E0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35"/>
          <p:cNvSpPr txBox="1">
            <a:spLocks noGrp="1"/>
          </p:cNvSpPr>
          <p:nvPr>
            <p:ph type="sldNum" idx="12"/>
          </p:nvPr>
        </p:nvSpPr>
        <p:spPr>
          <a:xfrm>
            <a:off x="6922240" y="4856789"/>
            <a:ext cx="21030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sp>
        <p:nvSpPr>
          <p:cNvPr id="171" name="Google Shape;171;p35"/>
          <p:cNvSpPr txBox="1">
            <a:spLocks noGrp="1"/>
          </p:cNvSpPr>
          <p:nvPr>
            <p:ph type="dt" idx="10"/>
          </p:nvPr>
        </p:nvSpPr>
        <p:spPr>
          <a:xfrm>
            <a:off x="292261" y="4856789"/>
            <a:ext cx="21030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mpaign summary">
  <p:cSld name="Campaign summary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6"/>
          <p:cNvSpPr txBox="1">
            <a:spLocks noGrp="1"/>
          </p:cNvSpPr>
          <p:nvPr>
            <p:ph type="body" idx="1"/>
          </p:nvPr>
        </p:nvSpPr>
        <p:spPr>
          <a:xfrm>
            <a:off x="540000" y="1080000"/>
            <a:ext cx="6156300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74" name="Google Shape;174;p36"/>
          <p:cNvSpPr txBox="1">
            <a:spLocks noGrp="1"/>
          </p:cNvSpPr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None/>
              <a:defRPr sz="2000" b="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36"/>
          <p:cNvSpPr txBox="1">
            <a:spLocks noGrp="1"/>
          </p:cNvSpPr>
          <p:nvPr>
            <p:ph type="subTitle" idx="2"/>
          </p:nvPr>
        </p:nvSpPr>
        <p:spPr>
          <a:xfrm>
            <a:off x="540000" y="648125"/>
            <a:ext cx="8064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  <p:sp>
        <p:nvSpPr>
          <p:cNvPr id="176" name="Google Shape;176;p36"/>
          <p:cNvSpPr/>
          <p:nvPr/>
        </p:nvSpPr>
        <p:spPr>
          <a:xfrm>
            <a:off x="6896050" y="1079975"/>
            <a:ext cx="1708200" cy="346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77" name="Google Shape;177;p36"/>
          <p:cNvSpPr txBox="1">
            <a:spLocks noGrp="1"/>
          </p:cNvSpPr>
          <p:nvPr>
            <p:ph type="body" idx="3"/>
          </p:nvPr>
        </p:nvSpPr>
        <p:spPr>
          <a:xfrm>
            <a:off x="6984550" y="1465500"/>
            <a:ext cx="1531200" cy="29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78" name="Google Shape;178;p36"/>
          <p:cNvSpPr txBox="1">
            <a:spLocks noGrp="1"/>
          </p:cNvSpPr>
          <p:nvPr>
            <p:ph type="subTitle" idx="4"/>
          </p:nvPr>
        </p:nvSpPr>
        <p:spPr>
          <a:xfrm>
            <a:off x="6984550" y="1192950"/>
            <a:ext cx="1531200" cy="1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with Subtitle">
  <p:cSld name="Title Only with Subtitle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7"/>
          <p:cNvSpPr txBox="1">
            <a:spLocks noGrp="1"/>
          </p:cNvSpPr>
          <p:nvPr>
            <p:ph type="title"/>
          </p:nvPr>
        </p:nvSpPr>
        <p:spPr>
          <a:xfrm>
            <a:off x="337029" y="233533"/>
            <a:ext cx="8393700" cy="8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7"/>
          <p:cNvSpPr txBox="1">
            <a:spLocks noGrp="1"/>
          </p:cNvSpPr>
          <p:nvPr>
            <p:ph type="body" idx="1"/>
          </p:nvPr>
        </p:nvSpPr>
        <p:spPr>
          <a:xfrm>
            <a:off x="336130" y="631589"/>
            <a:ext cx="8396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  <a:defRPr sz="1500"/>
            </a:lvl1pPr>
            <a:lvl2pPr marL="914400" lvl="1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5) Content - Display other material 1 1">
  <p:cSld name="45) Content - Display other material 1 1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177" r="70151"/>
          <a:stretch/>
        </p:blipFill>
        <p:spPr>
          <a:xfrm rot="5400000" flipH="1">
            <a:off x="7276727" y="-905925"/>
            <a:ext cx="999451" cy="277319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Montserrat"/>
              <a:buNone/>
            </a:pPr>
            <a:fld id="{00000000-1234-1234-1234-123412341234}" type="slidenum">
              <a:rPr lang="en-GB" sz="1000" b="1" i="0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‹N°›</a:t>
            </a:fld>
            <a:endParaRPr sz="1000" b="1" i="0" u="none" strike="noStrike" cap="non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38"/>
          <p:cNvSpPr txBox="1">
            <a:spLocks noGrp="1"/>
          </p:cNvSpPr>
          <p:nvPr>
            <p:ph type="title"/>
          </p:nvPr>
        </p:nvSpPr>
        <p:spPr>
          <a:xfrm>
            <a:off x="587225" y="607050"/>
            <a:ext cx="4821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, subheader, text">
  <p:cSld name="Header, subheader, text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9"/>
          <p:cNvSpPr txBox="1">
            <a:spLocks noGrp="1"/>
          </p:cNvSpPr>
          <p:nvPr>
            <p:ph type="body" idx="1"/>
          </p:nvPr>
        </p:nvSpPr>
        <p:spPr>
          <a:xfrm>
            <a:off x="540000" y="1080000"/>
            <a:ext cx="8064000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88" name="Google Shape;188;p39"/>
          <p:cNvSpPr txBox="1">
            <a:spLocks noGrp="1"/>
          </p:cNvSpPr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None/>
              <a:defRPr sz="2000" b="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39"/>
          <p:cNvSpPr txBox="1">
            <a:spLocks noGrp="1"/>
          </p:cNvSpPr>
          <p:nvPr>
            <p:ph type="subTitle" idx="2"/>
          </p:nvPr>
        </p:nvSpPr>
        <p:spPr>
          <a:xfrm>
            <a:off x="540000" y="648125"/>
            <a:ext cx="8064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template - keep it empty 1">
  <p:cSld name="Blank template - keep it empty 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794" y="4853118"/>
            <a:ext cx="229569" cy="2297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312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74700" y="579450"/>
            <a:ext cx="5826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Medium"/>
              <a:buNone/>
              <a:defRPr sz="11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6450" y="1262075"/>
            <a:ext cx="4556100" cy="20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720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0.jpeg"/><Relationship Id="rId5" Type="http://schemas.openxmlformats.org/officeDocument/2006/relationships/image" Target="../media/image9.gif"/><Relationship Id="rId4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>
          <a:extLst>
            <a:ext uri="{FF2B5EF4-FFF2-40B4-BE49-F238E27FC236}">
              <a16:creationId xmlns:a16="http://schemas.microsoft.com/office/drawing/2014/main" id="{14D968AC-0D9E-6E5B-5690-27A800760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91">
            <a:extLst>
              <a:ext uri="{FF2B5EF4-FFF2-40B4-BE49-F238E27FC236}">
                <a16:creationId xmlns:a16="http://schemas.microsoft.com/office/drawing/2014/main" id="{A24817D9-8F3A-4404-9889-2287793E4BF1}"/>
              </a:ext>
            </a:extLst>
          </p:cNvPr>
          <p:cNvSpPr/>
          <p:nvPr/>
        </p:nvSpPr>
        <p:spPr>
          <a:xfrm>
            <a:off x="0" y="0"/>
            <a:ext cx="9144000" cy="1051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defTabSz="914378"/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9" name="Google Shape;869;p91">
            <a:extLst>
              <a:ext uri="{FF2B5EF4-FFF2-40B4-BE49-F238E27FC236}">
                <a16:creationId xmlns:a16="http://schemas.microsoft.com/office/drawing/2014/main" id="{0DC2ECCA-800A-BD4F-4BA2-58740FDCD1E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613874" y="154850"/>
            <a:ext cx="200353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>
              <a:buClr>
                <a:schemeClr val="dk2"/>
              </a:buClr>
              <a:buSzPts val="1200"/>
              <a:buNone/>
            </a:pPr>
            <a:r>
              <a:rPr lang="en-GB" sz="1200" b="1" dirty="0">
                <a:solidFill>
                  <a:schemeClr val="lt2"/>
                </a:solidFill>
              </a:rPr>
              <a:t>Hamza Jelassi</a:t>
            </a:r>
            <a:endParaRPr sz="1200" b="1" dirty="0">
              <a:solidFill>
                <a:schemeClr val="lt2"/>
              </a:solidFill>
            </a:endParaRPr>
          </a:p>
        </p:txBody>
      </p:sp>
      <p:sp>
        <p:nvSpPr>
          <p:cNvPr id="870" name="Google Shape;870;p91">
            <a:extLst>
              <a:ext uri="{FF2B5EF4-FFF2-40B4-BE49-F238E27FC236}">
                <a16:creationId xmlns:a16="http://schemas.microsoft.com/office/drawing/2014/main" id="{2276CE7D-5B4D-6045-E0EB-C3AC08E9201F}"/>
              </a:ext>
            </a:extLst>
          </p:cNvPr>
          <p:cNvSpPr txBox="1"/>
          <p:nvPr/>
        </p:nvSpPr>
        <p:spPr>
          <a:xfrm>
            <a:off x="3615992" y="66731"/>
            <a:ext cx="5357100" cy="999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3499" algn="just" defTabSz="914378">
              <a:buSzPts val="600"/>
            </a:pPr>
            <a:r>
              <a:rPr lang="fr-FR" sz="800" dirty="0">
                <a:latin typeface="Montserrat"/>
              </a:rPr>
              <a:t>Results-driven AI Engineer specializing in production-grade AI systems combining Retrieval-Augmented Generation (RAG), Large Language Models, and real-time data pipelines. Currently building enterprise AI solutions at Devoteam Tunisia as a strategic AI copilot to executive leadership. Holder of DeepLearning.AI's full NLP Specialization (4 certificates, Nov 2024). Passionate about AI that creates measurable business impact.</a:t>
            </a:r>
            <a:endParaRPr sz="800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71" name="Google Shape;871;p91">
            <a:extLst>
              <a:ext uri="{FF2B5EF4-FFF2-40B4-BE49-F238E27FC236}">
                <a16:creationId xmlns:a16="http://schemas.microsoft.com/office/drawing/2014/main" id="{5D2FDB83-471C-D5F8-971A-72D4B1D6A61C}"/>
              </a:ext>
            </a:extLst>
          </p:cNvPr>
          <p:cNvCxnSpPr/>
          <p:nvPr/>
        </p:nvCxnSpPr>
        <p:spPr>
          <a:xfrm>
            <a:off x="3616697" y="154850"/>
            <a:ext cx="0" cy="6867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2" name="Google Shape;872;p91">
            <a:extLst>
              <a:ext uri="{FF2B5EF4-FFF2-40B4-BE49-F238E27FC236}">
                <a16:creationId xmlns:a16="http://schemas.microsoft.com/office/drawing/2014/main" id="{B5A7B248-FF6E-6D0B-A4E7-8D5861EBD330}"/>
              </a:ext>
            </a:extLst>
          </p:cNvPr>
          <p:cNvSpPr/>
          <p:nvPr/>
        </p:nvSpPr>
        <p:spPr>
          <a:xfrm>
            <a:off x="1613875" y="860450"/>
            <a:ext cx="1648500" cy="290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defTabSz="914378"/>
            <a:r>
              <a:rPr lang="en-GB" sz="900" b="1" dirty="0">
                <a:solidFill>
                  <a:srgbClr val="EB475E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4" name="Google Shape;874;p91">
            <a:extLst>
              <a:ext uri="{FF2B5EF4-FFF2-40B4-BE49-F238E27FC236}">
                <a16:creationId xmlns:a16="http://schemas.microsoft.com/office/drawing/2014/main" id="{92BA0080-689C-BD8B-439C-BAC02A57C612}"/>
              </a:ext>
            </a:extLst>
          </p:cNvPr>
          <p:cNvSpPr txBox="1"/>
          <p:nvPr/>
        </p:nvSpPr>
        <p:spPr>
          <a:xfrm>
            <a:off x="131077" y="2140702"/>
            <a:ext cx="7909539" cy="15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ctr" anchorCtr="0">
            <a:noAutofit/>
          </a:bodyPr>
          <a:lstStyle/>
          <a:p>
            <a:pPr defTabSz="914378"/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Formation </a:t>
            </a:r>
            <a:endParaRPr sz="900" dirty="0">
              <a:solidFill>
                <a:srgbClr val="F8485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77" name="Google Shape;877;p91">
            <a:extLst>
              <a:ext uri="{FF2B5EF4-FFF2-40B4-BE49-F238E27FC236}">
                <a16:creationId xmlns:a16="http://schemas.microsoft.com/office/drawing/2014/main" id="{8F57F1C4-1203-3ECB-B40D-FB8546B243D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613875" y="444175"/>
            <a:ext cx="17478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>
              <a:spcAft>
                <a:spcPts val="1200"/>
              </a:spcAft>
              <a:buClr>
                <a:schemeClr val="dk1"/>
              </a:buClr>
              <a:buSzPts val="800"/>
              <a:buNone/>
            </a:pPr>
            <a:r>
              <a:rPr lang="en-GB" sz="900" b="1" dirty="0">
                <a:solidFill>
                  <a:schemeClr val="dk1"/>
                </a:solidFill>
              </a:rPr>
              <a:t>AI Developer &amp; Process Automation Specialist</a:t>
            </a:r>
            <a:endParaRPr sz="900" b="1" dirty="0">
              <a:solidFill>
                <a:schemeClr val="dk1"/>
              </a:solidFill>
            </a:endParaRPr>
          </a:p>
        </p:txBody>
      </p:sp>
      <p:cxnSp>
        <p:nvCxnSpPr>
          <p:cNvPr id="878" name="Google Shape;878;p91">
            <a:extLst>
              <a:ext uri="{FF2B5EF4-FFF2-40B4-BE49-F238E27FC236}">
                <a16:creationId xmlns:a16="http://schemas.microsoft.com/office/drawing/2014/main" id="{BF457A0F-436C-C492-EB9D-B3920614B8DF}"/>
              </a:ext>
            </a:extLst>
          </p:cNvPr>
          <p:cNvCxnSpPr/>
          <p:nvPr/>
        </p:nvCxnSpPr>
        <p:spPr>
          <a:xfrm>
            <a:off x="-5911630" y="4639531"/>
            <a:ext cx="0" cy="350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9" name="Google Shape;879;p91">
            <a:extLst>
              <a:ext uri="{FF2B5EF4-FFF2-40B4-BE49-F238E27FC236}">
                <a16:creationId xmlns:a16="http://schemas.microsoft.com/office/drawing/2014/main" id="{09BFD0FF-EF97-423E-7ED3-074E5139A1E0}"/>
              </a:ext>
            </a:extLst>
          </p:cNvPr>
          <p:cNvSpPr txBox="1"/>
          <p:nvPr/>
        </p:nvSpPr>
        <p:spPr>
          <a:xfrm>
            <a:off x="131076" y="2327844"/>
            <a:ext cx="3978000" cy="186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r>
              <a:rPr lang="fr-FR" sz="750" b="1" dirty="0">
                <a:latin typeface="Montserrat"/>
              </a:rPr>
              <a:t>Computer Engineering - Data Science - ESPRIT (2025)</a:t>
            </a:r>
          </a:p>
          <a:p>
            <a:r>
              <a:rPr lang="fr-FR" sz="750" b="1" dirty="0">
                <a:latin typeface="Montserrat"/>
              </a:rPr>
              <a:t>Pre-Engineering Degree - Mathematics/Physics - IPEIT (2019-2022)</a:t>
            </a:r>
          </a:p>
        </p:txBody>
      </p:sp>
      <p:sp>
        <p:nvSpPr>
          <p:cNvPr id="881" name="Google Shape;881;p91">
            <a:extLst>
              <a:ext uri="{FF2B5EF4-FFF2-40B4-BE49-F238E27FC236}">
                <a16:creationId xmlns:a16="http://schemas.microsoft.com/office/drawing/2014/main" id="{7246D18B-D38D-D65C-14FD-C441A59F911E}"/>
              </a:ext>
            </a:extLst>
          </p:cNvPr>
          <p:cNvSpPr txBox="1"/>
          <p:nvPr/>
        </p:nvSpPr>
        <p:spPr>
          <a:xfrm>
            <a:off x="77051" y="1435442"/>
            <a:ext cx="4153168" cy="1571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t" anchorCtr="0">
            <a:noAutofit/>
          </a:bodyPr>
          <a:lstStyle/>
          <a:p>
            <a:r>
              <a:rPr lang="fr-FR" sz="800" b="0" dirty="0">
                <a:latin typeface="Montserrat"/>
              </a:rPr>
              <a:t>Python  •  JavaScript  •  SQL  •  RAG  •  LLM  •  NLP  •  FastAPI  •  Flask  •  LlamaIndex  •  OpenAI API  •  ChromaDB  •  HuggingFace Transformers  •  Git  •  REST APIs  •  Docker</a:t>
            </a:r>
          </a:p>
        </p:txBody>
      </p:sp>
      <p:sp>
        <p:nvSpPr>
          <p:cNvPr id="882" name="Google Shape;882;p91">
            <a:extLst>
              <a:ext uri="{FF2B5EF4-FFF2-40B4-BE49-F238E27FC236}">
                <a16:creationId xmlns:a16="http://schemas.microsoft.com/office/drawing/2014/main" id="{B0E0FB76-1CAC-5F96-CCA8-56998512189B}"/>
              </a:ext>
            </a:extLst>
          </p:cNvPr>
          <p:cNvSpPr txBox="1"/>
          <p:nvPr/>
        </p:nvSpPr>
        <p:spPr>
          <a:xfrm>
            <a:off x="4636180" y="1607667"/>
            <a:ext cx="3972821" cy="775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t" anchorCtr="0">
            <a:noAutofit/>
          </a:bodyPr>
          <a:lstStyle/>
          <a:p>
            <a:endParaRPr lang="fr-FR" sz="825" b="1" dirty="0"/>
          </a:p>
          <a:p>
            <a:r>
              <a:rPr lang="fr-FR" sz="800" b="1" dirty="0">
                <a:latin typeface="Montserrat"/>
              </a:rPr>
              <a:t>Devoteam Tunisia | AI Developer &amp; Process Automation Specialist :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Developed a sequential collection engine capable of guiding users through complex professional assessment frameworks (business axes and sub-axes).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Ensured comprehensive information gathering by enforcing multi-step validation for each entry, including initial response, justification, real-world examples, and lessons learned.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Designed dynamic system prompts using GPT-4o to manage natural transitions between topics and adapt questioning based on the user's progress state.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Implemented a robust session handling system allowing for smooth resumption of interrupted audits ("returning user logic") with immediate incremental saving to Excel via Pandas.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Built a desktop application utilizing Flask for backend logic and threading to manage automated browser-based user interaction in secure local environments.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Integrated utility functions for automated data cleaning, handling null values, and real-time synchronization between the AI agent and physical storage files.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Developed command interception mechanisms (e.g., "STOP", "FIN") and personalized welcome messages based on semantic analysis of completed versus pending work.</a:t>
            </a:r>
          </a:p>
        </p:txBody>
      </p:sp>
      <p:sp>
        <p:nvSpPr>
          <p:cNvPr id="883" name="Google Shape;883;p91">
            <a:extLst>
              <a:ext uri="{FF2B5EF4-FFF2-40B4-BE49-F238E27FC236}">
                <a16:creationId xmlns:a16="http://schemas.microsoft.com/office/drawing/2014/main" id="{2FDA7F64-76DE-6428-007B-88330B99488D}"/>
              </a:ext>
            </a:extLst>
          </p:cNvPr>
          <p:cNvSpPr txBox="1"/>
          <p:nvPr/>
        </p:nvSpPr>
        <p:spPr>
          <a:xfrm>
            <a:off x="134011" y="1188802"/>
            <a:ext cx="3851466" cy="21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ctr" anchorCtr="0">
            <a:noAutofit/>
          </a:bodyPr>
          <a:lstStyle/>
          <a:p>
            <a:pPr defTabSz="914378"/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Compétences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Principales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                                                                                                                              </a:t>
            </a:r>
            <a:endParaRPr sz="900" dirty="0">
              <a:solidFill>
                <a:srgbClr val="F8485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85" name="Google Shape;885;p91">
            <a:extLst>
              <a:ext uri="{FF2B5EF4-FFF2-40B4-BE49-F238E27FC236}">
                <a16:creationId xmlns:a16="http://schemas.microsoft.com/office/drawing/2014/main" id="{6D45ECEE-73FB-7E87-2AC2-B5229EF62197}"/>
              </a:ext>
            </a:extLst>
          </p:cNvPr>
          <p:cNvSpPr txBox="1"/>
          <p:nvPr/>
        </p:nvSpPr>
        <p:spPr>
          <a:xfrm>
            <a:off x="134011" y="2570363"/>
            <a:ext cx="4200771" cy="22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ctr" anchorCtr="0">
            <a:noAutofit/>
          </a:bodyPr>
          <a:lstStyle/>
          <a:p>
            <a:pPr defTabSz="914378"/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Principales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Réalisations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&amp;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Références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900" dirty="0">
              <a:solidFill>
                <a:srgbClr val="F8485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87" name="Google Shape;887;p91">
            <a:extLst>
              <a:ext uri="{FF2B5EF4-FFF2-40B4-BE49-F238E27FC236}">
                <a16:creationId xmlns:a16="http://schemas.microsoft.com/office/drawing/2014/main" id="{F05C4E19-F979-09C7-8840-72F2C08EB011}"/>
              </a:ext>
            </a:extLst>
          </p:cNvPr>
          <p:cNvSpPr txBox="1"/>
          <p:nvPr/>
        </p:nvSpPr>
        <p:spPr>
          <a:xfrm>
            <a:off x="110444" y="2812058"/>
            <a:ext cx="4200769" cy="1913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t" anchorCtr="0">
            <a:noAutofit/>
          </a:bodyPr>
          <a:lstStyle/>
          <a:p>
            <a:endParaRPr lang="fr-FR" sz="825" b="1" dirty="0"/>
          </a:p>
          <a:p>
            <a:r>
              <a:rPr lang="fr-FR" sz="800" b="1" dirty="0">
                <a:latin typeface="Montserrat"/>
              </a:rPr>
              <a:t>Devoteam Tunisia | AI Conversational Agent Developer :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Implemented a vector search system using LlamaIndex and the bge-large-en-v1.5 embedding model to simultaneously index and query PDF data corpora and web scraping extractions.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Developed a preset management system (Direct, Detailed, Analytical, Coaching, Strategic) allowing instant modification of AI tone and response structure via natural language commands.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Created a module capable of detecting AI information gaps, soliciting missing data from the user, and integrating it into the vector base in real-time following authentication.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Established a priority correction flow allowing the CEO to directly rectify AI responses; these corrections are vectorized and injected with absolute priority into the context of future queries.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Deployed a differential sanitization system using bleach for standard requests and a lightweight optimization for high-volume knowledge inputs up to 100,000 characters.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Developed a secure administration interface to monitor system health, view interaction statistics, and analyze user feedback for continuous improvement.</a:t>
            </a:r>
          </a:p>
        </p:txBody>
      </p:sp>
      <p:pic>
        <p:nvPicPr>
          <p:cNvPr id="9" name="Picture 8" descr="BNP Paribas APM | Secure Bank Transfers via BNP Paribas (Poland) | Nuvei">
            <a:extLst>
              <a:ext uri="{FF2B5EF4-FFF2-40B4-BE49-F238E27FC236}">
                <a16:creationId xmlns:a16="http://schemas.microsoft.com/office/drawing/2014/main" id="{31D844EB-1213-51E4-168A-C35FE5FAC7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215" t="18070" r="9473" b="17869"/>
          <a:stretch>
            <a:fillRect/>
          </a:stretch>
        </p:blipFill>
        <p:spPr>
          <a:xfrm>
            <a:off x="5397451" y="1131194"/>
            <a:ext cx="956167" cy="464925"/>
          </a:xfrm>
          <a:prstGeom prst="rect">
            <a:avLst/>
          </a:prstGeom>
        </p:spPr>
      </p:pic>
      <p:pic>
        <p:nvPicPr>
          <p:cNvPr id="11" name="Google Shape;899;p91">
            <a:extLst>
              <a:ext uri="{FF2B5EF4-FFF2-40B4-BE49-F238E27FC236}">
                <a16:creationId xmlns:a16="http://schemas.microsoft.com/office/drawing/2014/main" id="{5C09DBA2-1B50-1880-19A2-A132262DC376}"/>
              </a:ext>
            </a:extLst>
          </p:cNvPr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82618" y="1249398"/>
            <a:ext cx="1098496" cy="247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BMCI Groupe BNP Paribas">
            <a:extLst>
              <a:ext uri="{FF2B5EF4-FFF2-40B4-BE49-F238E27FC236}">
                <a16:creationId xmlns:a16="http://schemas.microsoft.com/office/drawing/2014/main" id="{3AC2A943-C18C-CDED-2A1D-86F5378644D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4731" b="19549"/>
          <a:stretch>
            <a:fillRect/>
          </a:stretch>
        </p:blipFill>
        <p:spPr>
          <a:xfrm>
            <a:off x="6523865" y="1065467"/>
            <a:ext cx="1108647" cy="617743"/>
          </a:xfrm>
          <a:prstGeom prst="rect">
            <a:avLst/>
          </a:prstGeom>
        </p:spPr>
      </p:pic>
      <p:pic>
        <p:nvPicPr>
          <p:cNvPr id="15" name="Picture 14" descr="UBCI | Nous connaitre">
            <a:extLst>
              <a:ext uri="{FF2B5EF4-FFF2-40B4-BE49-F238E27FC236}">
                <a16:creationId xmlns:a16="http://schemas.microsoft.com/office/drawing/2014/main" id="{BE5555BB-11F5-F0E8-34B2-7C2C920BB0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0400" y="1249398"/>
            <a:ext cx="929493" cy="279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9618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87;p91">
            <a:extLst>
              <a:ext uri="{FF2B5EF4-FFF2-40B4-BE49-F238E27FC236}">
                <a16:creationId xmlns:a16="http://schemas.microsoft.com/office/drawing/2014/main" id="{75E7FD45-5803-00D2-219B-FF2A18F0FF14}"/>
              </a:ext>
            </a:extLst>
          </p:cNvPr>
          <p:cNvSpPr txBox="1"/>
          <p:nvPr/>
        </p:nvSpPr>
        <p:spPr>
          <a:xfrm>
            <a:off x="238561" y="1946438"/>
            <a:ext cx="3936530" cy="1913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t" anchorCtr="0">
            <a:noAutofit/>
          </a:bodyPr>
          <a:lstStyle/>
          <a:p>
            <a:r>
              <a:rPr lang="fr-FR" sz="800" b="1" dirty="0">
                <a:latin typeface="Montserrat"/>
              </a:rPr>
              <a:t>Tunisian banks | AI Engineer &amp; Full-Stack Developer :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Engineered a document intelligence pipeline using python-docx to extract structured BIA data from Word fiches with header-fingerprint table detection, robust to any fiche format across multiple bank clients.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Implemented real-time DMIA propagation from Excel synthesis to all linked Word fiches, with fuzzy matching via rapidfuzz to handle department name variations across client templates.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Built a full-featured single-page application for creating and editing BIA fiches in the browser, with a live DMIA suggestion engine powered by SQLite historical activity data from prior bank engagements.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Developed an intelligent recommendation system querying historical activity data via exact and keyword matching, surfacing benchmark DMIA values from previous Tunisian bank BIA projects.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Created an interactive org-tree visualizer parsing synthesis Excel files to render department hierarchies with DMIA heatmaps (critical/moderate/low) for executive-level BCP reporting.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Designed an automated document generation pipeline producing one formatted Word fiche per department from a recensement Excel file, with LLM fallback via Ollama for unstructured content extraction.</a:t>
            </a:r>
          </a:p>
          <a:p>
            <a:r>
              <a:rPr lang="fr-FR" sz="800" b="1" dirty="0">
                <a:latin typeface="Montserrat"/>
              </a:rPr>
              <a:t>Devoteam Tunisia | Fullstack AI &amp; Process Automation Developer :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Engineered a high-performance data ingestion pipeline for complex technical documents (PDF, XLSX, and PPTX) using ChromaDB as a vector store and OpenAI’s GPT-4o for precise multi-phase knowledge extraction.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Developed a logic layer capable of converting unstructured natural language descriptions into valid BPMN 2.0 XML/JSON structures through a multi-provider LLM facade (OpenAI, Anthropic, Gemini).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Built a sophisticated editing service that allows users to modify diagrams via conversation, supporting complex operations like element redirection, node movement, and automated gateway management.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Integrated bpmn-js for real-time diagram rendering and implemented a dedicated layout microservice to automatically organize AI-generated process flows for optimal readability.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Designed an advanced UI feature that synchronizes AI responses with a synchronized PDF viewer, allowing users to instantly preview exact document pages cited as sources for total transparency.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Implemented internal session token security for FastAPI endpoints and optimized the user experience using server-sent events (StreamingResponse) for real-time AI "thinking" and text generation.</a:t>
            </a:r>
          </a:p>
          <a:p>
            <a:r>
              <a:rPr lang="fr-FR" sz="800" b="1" dirty="0">
                <a:latin typeface="Montserrat"/>
              </a:rPr>
              <a:t>Devoteam Tunisia | AI &amp; Data Automation Engineer :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Developed a search functionality using cosine similarity relevance thresholding to match specific client needs (e.g., "Cloud Migration") with the most relevant consultant profiles and references.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Built a template projection engine using libraries to map structured Markdown data into branded Word and PowerPoint templates, achieving 100% automated graphical formatting.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Implemented logic allowing managers to dynamically reorder, hide, or adapt mission descriptions based on specific bid contexts and client technical stacks.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Leveraged GPT-4o Vision capabilities to convert legacy PDF layouts into base64 images for flawless data extraction from complex, non-standardized CV formats.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Reduced proposal preparation effort from 2-3 man-days to under one hour per file while securing internal API calls with server-side generated tokens and Role-Based Access Control (RBAC).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56CE3F-5B02-8F7E-C625-6F3B45A47E98}"/>
              </a:ext>
            </a:extLst>
          </p:cNvPr>
          <p:cNvSpPr txBox="1"/>
          <p:nvPr/>
        </p:nvSpPr>
        <p:spPr>
          <a:xfrm>
            <a:off x="4386106" y="1946438"/>
            <a:ext cx="457262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800" b="1" dirty="0">
                <a:latin typeface="Montserrat"/>
              </a:rPr>
              <a:t>SNDP | AI Fullstack engineer :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Implemented a multimodal processing pipeline utilizing GPT-4o Vision to visually analyze BPMN diagrams embedded within PowerPoint presentations.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Engineered a specialized BPMN 2.0 parser in Python using lxml to extract and sequence flows, gateways, and swim-lanes, providing structured context for the Large Language Model.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Integrated a formatted Word document generation module using python-docx with branded styling, including operational tables, internal controls, and embedded diagrams.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Established a FastAPI-based REST API with modular routing (slides, generate, bpmn) and an automated conversion pipeline (PPTX → PDF → PNG) via LibreOffice and pdf2image.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Authored structured JSON-based extraction prompts to produce procedural manuals with a cohesive narrative style consistent with professional SOP standards (e.g., Grant Thornton type).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b="0" dirty="0">
                <a:latin typeface="Montserrat"/>
              </a:rPr>
              <a:t>Leveraged AI Vision capabilities to bridge the gap between graphical process representations and technical documentation, ensuring 100% accuracy in step-by-step procedure mapping.</a:t>
            </a:r>
          </a:p>
        </p:txBody>
      </p:sp>
      <p:sp>
        <p:nvSpPr>
          <p:cNvPr id="10" name="Google Shape;868;p91">
            <a:extLst>
              <a:ext uri="{FF2B5EF4-FFF2-40B4-BE49-F238E27FC236}">
                <a16:creationId xmlns:a16="http://schemas.microsoft.com/office/drawing/2014/main" id="{5EE19B54-28D4-913F-4DE6-32AFED007C46}"/>
              </a:ext>
            </a:extLst>
          </p:cNvPr>
          <p:cNvSpPr/>
          <p:nvPr/>
        </p:nvSpPr>
        <p:spPr>
          <a:xfrm>
            <a:off x="0" y="0"/>
            <a:ext cx="9144000" cy="1051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defTabSz="914378"/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Google Shape;869;p91">
            <a:extLst>
              <a:ext uri="{FF2B5EF4-FFF2-40B4-BE49-F238E27FC236}">
                <a16:creationId xmlns:a16="http://schemas.microsoft.com/office/drawing/2014/main" id="{1D2C9E3B-6CFA-9A6C-2438-DCFDAEFBACD8}"/>
              </a:ext>
            </a:extLst>
          </p:cNvPr>
          <p:cNvSpPr txBox="1">
            <a:spLocks/>
          </p:cNvSpPr>
          <p:nvPr/>
        </p:nvSpPr>
        <p:spPr>
          <a:xfrm>
            <a:off x="1613874" y="154850"/>
            <a:ext cx="200353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buClr>
                <a:schemeClr val="dk2"/>
              </a:buClr>
              <a:buSzPts val="1200"/>
              <a:buFont typeface="Montserrat"/>
              <a:buNone/>
            </a:pPr>
            <a:r>
              <a:rPr lang="en-GB" sz="1200" b="1">
                <a:solidFill>
                  <a:schemeClr val="lt2"/>
                </a:solidFill>
              </a:rPr>
              <a:t>Hamza Jelassi</a:t>
            </a:r>
            <a:endParaRPr lang="en-GB" sz="1200" b="1" dirty="0">
              <a:solidFill>
                <a:schemeClr val="lt2"/>
              </a:solidFill>
            </a:endParaRPr>
          </a:p>
        </p:txBody>
      </p:sp>
      <p:sp>
        <p:nvSpPr>
          <p:cNvPr id="15" name="Google Shape;877;p91">
            <a:extLst>
              <a:ext uri="{FF2B5EF4-FFF2-40B4-BE49-F238E27FC236}">
                <a16:creationId xmlns:a16="http://schemas.microsoft.com/office/drawing/2014/main" id="{46B8542A-36C5-3E7D-9D43-8569E6C1B522}"/>
              </a:ext>
            </a:extLst>
          </p:cNvPr>
          <p:cNvSpPr txBox="1">
            <a:spLocks/>
          </p:cNvSpPr>
          <p:nvPr/>
        </p:nvSpPr>
        <p:spPr>
          <a:xfrm>
            <a:off x="1613875" y="444175"/>
            <a:ext cx="17478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spcAft>
                <a:spcPts val="120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rPr lang="en-GB" sz="900" b="1">
                <a:solidFill>
                  <a:schemeClr val="dk1"/>
                </a:solidFill>
              </a:rPr>
              <a:t>AI Developer &amp; Process Automation Specialist</a:t>
            </a:r>
            <a:endParaRPr lang="en-GB" sz="900" b="1" dirty="0">
              <a:solidFill>
                <a:schemeClr val="dk1"/>
              </a:solidFill>
            </a:endParaRPr>
          </a:p>
        </p:txBody>
      </p:sp>
      <p:pic>
        <p:nvPicPr>
          <p:cNvPr id="18" name="Picture 17" descr="BNP Paribas APM | Secure Bank Transfers via BNP Paribas (Poland) | Nuvei">
            <a:extLst>
              <a:ext uri="{FF2B5EF4-FFF2-40B4-BE49-F238E27FC236}">
                <a16:creationId xmlns:a16="http://schemas.microsoft.com/office/drawing/2014/main" id="{CA14C6B4-5380-4FE3-15CA-75490A27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15" t="18070" r="9473" b="17869"/>
          <a:stretch>
            <a:fillRect/>
          </a:stretch>
        </p:blipFill>
        <p:spPr>
          <a:xfrm>
            <a:off x="5397451" y="1131194"/>
            <a:ext cx="956167" cy="464925"/>
          </a:xfrm>
          <a:prstGeom prst="rect">
            <a:avLst/>
          </a:prstGeom>
        </p:spPr>
      </p:pic>
      <p:pic>
        <p:nvPicPr>
          <p:cNvPr id="20" name="Google Shape;899;p91">
            <a:extLst>
              <a:ext uri="{FF2B5EF4-FFF2-40B4-BE49-F238E27FC236}">
                <a16:creationId xmlns:a16="http://schemas.microsoft.com/office/drawing/2014/main" id="{60E9E407-A7A1-FAEC-0D77-C01E7089B582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82618" y="1249398"/>
            <a:ext cx="1098496" cy="247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Picture 21" descr="BMCI Groupe BNP Paribas">
            <a:extLst>
              <a:ext uri="{FF2B5EF4-FFF2-40B4-BE49-F238E27FC236}">
                <a16:creationId xmlns:a16="http://schemas.microsoft.com/office/drawing/2014/main" id="{758FFA84-6019-AA42-10EB-BEA554BEF4C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4731" b="19549"/>
          <a:stretch>
            <a:fillRect/>
          </a:stretch>
        </p:blipFill>
        <p:spPr>
          <a:xfrm>
            <a:off x="6523865" y="1065467"/>
            <a:ext cx="1108647" cy="617743"/>
          </a:xfrm>
          <a:prstGeom prst="rect">
            <a:avLst/>
          </a:prstGeom>
        </p:spPr>
      </p:pic>
      <p:pic>
        <p:nvPicPr>
          <p:cNvPr id="24" name="Picture 23" descr="UBCI | Nous connaitre">
            <a:extLst>
              <a:ext uri="{FF2B5EF4-FFF2-40B4-BE49-F238E27FC236}">
                <a16:creationId xmlns:a16="http://schemas.microsoft.com/office/drawing/2014/main" id="{E720C7A7-E968-70D6-0015-59606F9F01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0400" y="1249398"/>
            <a:ext cx="929493" cy="279603"/>
          </a:xfrm>
          <a:prstGeom prst="rect">
            <a:avLst/>
          </a:prstGeom>
        </p:spPr>
      </p:pic>
      <p:sp>
        <p:nvSpPr>
          <p:cNvPr id="26" name="Google Shape;885;p91">
            <a:extLst>
              <a:ext uri="{FF2B5EF4-FFF2-40B4-BE49-F238E27FC236}">
                <a16:creationId xmlns:a16="http://schemas.microsoft.com/office/drawing/2014/main" id="{339EE12A-2666-5232-B00C-CC23BD4243E8}"/>
              </a:ext>
            </a:extLst>
          </p:cNvPr>
          <p:cNvSpPr txBox="1"/>
          <p:nvPr/>
        </p:nvSpPr>
        <p:spPr>
          <a:xfrm>
            <a:off x="134011" y="1649191"/>
            <a:ext cx="4200771" cy="22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ctr" anchorCtr="0">
            <a:noAutofit/>
          </a:bodyPr>
          <a:lstStyle/>
          <a:p>
            <a:pPr defTabSz="914378"/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Principales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Réalisations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&amp;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Références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900" dirty="0">
              <a:solidFill>
                <a:srgbClr val="F8485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04878210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3C3C3A"/>
      </a:dk1>
      <a:lt1>
        <a:srgbClr val="FFFFFF"/>
      </a:lt1>
      <a:dk2>
        <a:srgbClr val="3C3C3A"/>
      </a:dk2>
      <a:lt2>
        <a:srgbClr val="F8485E"/>
      </a:lt2>
      <a:accent1>
        <a:srgbClr val="F8485E"/>
      </a:accent1>
      <a:accent2>
        <a:srgbClr val="FCA2AE"/>
      </a:accent2>
      <a:accent3>
        <a:srgbClr val="FDDADE"/>
      </a:accent3>
      <a:accent4>
        <a:srgbClr val="D7EBE7"/>
      </a:accent4>
      <a:accent5>
        <a:srgbClr val="EFEADC"/>
      </a:accent5>
      <a:accent6>
        <a:srgbClr val="EFEEEE"/>
      </a:accent6>
      <a:hlink>
        <a:srgbClr val="F8485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1857</TotalTime>
  <Words>744</Words>
  <Application>Microsoft Office PowerPoint</Application>
  <PresentationFormat>Affichage à l'écran (16:9)</PresentationFormat>
  <Paragraphs>68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</vt:i4>
      </vt:variant>
    </vt:vector>
  </HeadingPairs>
  <TitlesOfParts>
    <vt:vector size="11" baseType="lpstr">
      <vt:lpstr>Montserrat Medium</vt:lpstr>
      <vt:lpstr>Montserrat Light</vt:lpstr>
      <vt:lpstr>Verdana</vt:lpstr>
      <vt:lpstr>Arial</vt:lpstr>
      <vt:lpstr>Montserrat</vt:lpstr>
      <vt:lpstr>Montserrat SemiBold</vt:lpstr>
      <vt:lpstr>Century Gothic</vt:lpstr>
      <vt:lpstr>Simple Light</vt:lpstr>
      <vt:lpstr>Simple Light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Mohamed BEN AYED</dc:creator>
  <cp:lastModifiedBy>Fatèn TAGHOUTI</cp:lastModifiedBy>
  <cp:revision>127</cp:revision>
  <dcterms:modified xsi:type="dcterms:W3CDTF">2026-08-11T12:54:42Z</dcterms:modified>
</cp:coreProperties>
</file>