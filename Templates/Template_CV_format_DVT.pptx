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>
        <p:scale>
          <a:sx n="100" d="100"/>
          <a:sy n="100" d="100"/>
        </p:scale>
        <p:origin x="183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1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3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font" Target="fonts/font23.fntdata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presProps" Target="presProps.xml"/><Relationship Id="rId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Habiba Cyrine BELHADJ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Habiba dispose de 6 ans d’expérience dans le secteur bancaire, spécialisée dans la transformation digitale et l'optimisation des processus métiers, avec une expertise forte en </a:t>
            </a:r>
            <a:r>
              <a:rPr lang="fr-FR" sz="800" b="1" dirty="0" err="1">
                <a:latin typeface="Montserrat"/>
              </a:rPr>
              <a:t>Corporate</a:t>
            </a:r>
            <a:r>
              <a:rPr lang="fr-FR" sz="800" b="1" dirty="0">
                <a:latin typeface="Montserrat"/>
              </a:rPr>
              <a:t> </a:t>
            </a:r>
            <a:r>
              <a:rPr lang="fr-FR" sz="800" b="1" dirty="0" err="1">
                <a:latin typeface="Montserrat"/>
              </a:rPr>
              <a:t>Lending</a:t>
            </a:r>
            <a:r>
              <a:rPr lang="fr-FR" sz="800" dirty="0">
                <a:latin typeface="Montserrat"/>
              </a:rPr>
              <a:t>. Experte du cadrage à la livraison, elle combine une solide maîtrise des méthodologies Agiles et une maitrise du </a:t>
            </a:r>
            <a:r>
              <a:rPr lang="fr-FR" sz="800" b="1" dirty="0">
                <a:latin typeface="Montserrat"/>
              </a:rPr>
              <a:t>QA</a:t>
            </a:r>
            <a:r>
              <a:rPr lang="fr-FR" sz="800" dirty="0">
                <a:latin typeface="Montserrat"/>
              </a:rPr>
              <a:t> pour garantir la valeur et la conformité des solutions déployées. Habituée à collaborer étroitement avec les équipes métiers et IT, elle intervient sur des projets stratégiques à forte valeur ajoutée.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6 </a:t>
            </a:r>
            <a:r>
              <a:rPr lang="en-GB" sz="900" b="1" dirty="0" err="1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ans</a:t>
            </a:r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900" b="1" dirty="0" err="1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d’expérience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203089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Senior Transformation Consultant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7" y="2364219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 defTabSz="914378"/>
            <a:r>
              <a:rPr lang="fr-FR" sz="800" dirty="0">
                <a:latin typeface="Montserrat"/>
                <a:ea typeface="Montserrat"/>
                <a:cs typeface="Montserrat"/>
                <a:sym typeface="Montserrat"/>
              </a:rPr>
              <a:t>Mastère Recherche en Sciences de Gestion : Finance (ESCT)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43493" y="1356171"/>
            <a:ext cx="4153168" cy="1390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Business </a:t>
            </a:r>
            <a:r>
              <a:rPr lang="fr-FR" sz="800" dirty="0" err="1">
                <a:latin typeface="Montserrat"/>
              </a:rPr>
              <a:t>Analysis</a:t>
            </a:r>
            <a:r>
              <a:rPr lang="fr-FR" sz="800" dirty="0">
                <a:latin typeface="Montserrat"/>
              </a:rPr>
              <a:t> &amp; AMOA bancaire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Expertise fonctionnelle Crédit </a:t>
            </a:r>
            <a:r>
              <a:rPr lang="fr-FR" sz="800" dirty="0" err="1">
                <a:latin typeface="Montserrat"/>
              </a:rPr>
              <a:t>Crédit</a:t>
            </a:r>
            <a:r>
              <a:rPr lang="fr-FR" sz="800" dirty="0">
                <a:latin typeface="Montserrat"/>
              </a:rPr>
              <a:t> </a:t>
            </a:r>
            <a:r>
              <a:rPr lang="fr-FR" sz="800" dirty="0" err="1">
                <a:latin typeface="Montserrat"/>
              </a:rPr>
              <a:t>Corporate</a:t>
            </a:r>
            <a:r>
              <a:rPr lang="fr-FR" sz="800" dirty="0">
                <a:latin typeface="Montserrat"/>
              </a:rPr>
              <a:t> / Professionnels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Modélisation et optimisation des processus métiers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Méthodologies Agile Scrum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Recette fonctionnelle 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endParaRPr lang="fr-FR" sz="825" b="1" dirty="0"/>
          </a:p>
          <a:p>
            <a:r>
              <a:rPr lang="fr-FR" sz="800" b="1" dirty="0">
                <a:latin typeface="Montserrat"/>
              </a:rPr>
              <a:t>BMCI (Maroc) | Digitalisation des processus d’instruction de crédits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Analyse et optimisation des processus d’octroi de crédits pour les marchés Entreprises, Professionnels et SME.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Animation des ateliers de cadrage fonctionnel et analyse des écarts par rapport au standard.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Rédaction des spécifications fonctionnelles générales et détaillées.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Modélisation des processus métiers selon la norme BPMN.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Définition des règles de gestion et parcours fonctionnels.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Élaboration des cahiers de recette et scénarios de tests.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Accompagnement des équipes de développement et validation des fonctionnalités livrées. </a:t>
            </a:r>
            <a:br>
              <a:rPr lang="fr-FR" sz="800" dirty="0">
                <a:latin typeface="Montserrat"/>
              </a:rPr>
            </a:br>
            <a:endParaRPr lang="fr-FR" sz="800" dirty="0">
              <a:latin typeface="Montserrat"/>
            </a:endParaRPr>
          </a:p>
          <a:p>
            <a:r>
              <a:rPr lang="fr-FR" sz="800" b="1" dirty="0">
                <a:latin typeface="Montserrat"/>
              </a:rPr>
              <a:t>CIH Bank (Maroc) | Digitalisation des processus d’octroi de crédits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Mise en place d’une solution d’automatisation des processus d’octroi de crédits pour les marchés Entreprises, Professionnels et Promotions Immobilières.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Analyse fonctionnelle des parcours crédit et identification des besoins métiers.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Animation des ateliers de cadrage et formalisation des exigences fonctionnelles.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Rédaction des spécifications fonctionnelles détaillées.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Modélisation et optimisation des workflows de traitement crédit.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Élaboration des plans de tests et cahiers de recette.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Accompagnement des équipes métiers et IT jusqu’à la validation des solutions. </a:t>
            </a:r>
          </a:p>
          <a:p>
            <a:pPr marL="63499" algn="just" defTabSz="914378">
              <a:buSzPts val="600"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1077" y="1167879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Attijari Bank Tunisie | Digitalisation des processus de crédits </a:t>
            </a:r>
            <a:r>
              <a:rPr lang="fr-FR" sz="800" b="1" dirty="0" err="1">
                <a:latin typeface="Montserrat"/>
              </a:rPr>
              <a:t>Corporate</a:t>
            </a:r>
            <a:r>
              <a:rPr lang="fr-FR" sz="800" b="1" dirty="0">
                <a:latin typeface="Montserrat"/>
              </a:rPr>
              <a:t>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et cadrage fonctionnel des processus d’instruction, validation, décision et gestion des garanties crédit </a:t>
            </a:r>
            <a:r>
              <a:rPr lang="fr-FR" sz="800" dirty="0" err="1">
                <a:latin typeface="Montserrat"/>
              </a:rPr>
              <a:t>Corporate</a:t>
            </a:r>
            <a:r>
              <a:rPr lang="fr-FR" sz="800" dirty="0">
                <a:latin typeface="Montserrat"/>
              </a:rPr>
              <a:t>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Animation des ateliers métiers et analyse des besoins fonctionnels.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Rédaction des spécifications fonctionnelles détaillées (SFD), règles de gestion et exigences fonctionnelles.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Formalisation des besoins sous forme d’Epics, User Stories et critères d’acceptation en environnement Agile Scrum.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Modélisation des processus métiers, workflows décisionnels et circuits de validation (BPMN).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Contribution à la gestion et priorisation du Product </a:t>
            </a:r>
            <a:r>
              <a:rPr lang="fr-FR" sz="800" dirty="0" err="1">
                <a:latin typeface="Montserrat"/>
              </a:rPr>
              <a:t>Backlog</a:t>
            </a:r>
            <a:r>
              <a:rPr lang="fr-FR" sz="800" dirty="0">
                <a:latin typeface="Montserrat"/>
              </a:rPr>
              <a:t>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Accompagnement des équipes de développement dans la mise en œuvre des solutions.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Élaboration des stratégies de recette, cahiers de tests et scénarios fonctionnels.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Exécution des recettes fonctionnelles (SIT/UAT), suivi des anomalies et validation des livrables. </a:t>
            </a:r>
          </a:p>
          <a:p>
            <a:br>
              <a:rPr lang="fr-FR" sz="750" dirty="0"/>
            </a:br>
            <a:endParaRPr lang="fr-FR" sz="750" dirty="0"/>
          </a:p>
          <a:p>
            <a:pPr marL="444489" lvl="8" indent="-82548" defTabSz="914378">
              <a:buSzPts val="500"/>
              <a:buFont typeface="Montserrat"/>
              <a:buChar char="-"/>
            </a:pPr>
            <a:endParaRPr sz="1100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2A15EC95-F466-ECEB-DE68-E3BD91B809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65641" y="-2697"/>
            <a:ext cx="1198106" cy="10518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BNP Paribas – DOM-TOM &amp; UEMOA (6 filiales) | Automatisation des processus d’octroi de crédits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Mise en place d’une solution d’automatisation des processus d’octroi de crédits aux particuliers, professionnels et entreprises.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des processus existants et définition des besoins fonctionnels.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Rédaction des spécifications fonctionnelles générales et détaillées.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Conception des workflows crédit et règles de gestion.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Contribution au remplacement iso-fonctionnel de la solution APCX.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Préparation des plans de tests et accompagnement des phases de recette.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Assistance au déploiement des solutions auprès des différentes filiales. </a:t>
            </a:r>
          </a:p>
          <a:p>
            <a:pPr marL="63499" algn="just" defTabSz="914378">
              <a:buSzPts val="600"/>
            </a:pPr>
            <a:br>
              <a:rPr lang="fr-FR" sz="800" dirty="0">
                <a:latin typeface="Montserrat"/>
              </a:rPr>
            </a:br>
            <a:endParaRPr lang="fr-FR" sz="800" dirty="0">
              <a:latin typeface="Montserrat"/>
            </a:endParaRPr>
          </a:p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UBCI (Tunisie) | Automatisation des processus d’octroi de crédits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Mise en place d’une solution de digitalisation des processus de crédits aux particuliers, professionnels et entreprises.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des besoins métiers et participation aux ateliers de cadrage.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Rédaction des spécifications fonctionnelles.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Paramétrage et configuration métier de la solution.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Élaboration des scénarios de tests et validation des livrables.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Assistance aux utilisateurs lors des phases de recette et de mise en production. </a:t>
            </a:r>
          </a:p>
          <a:p>
            <a:pPr marL="63499" algn="just" defTabSz="914378">
              <a:buSzPts val="600"/>
            </a:pPr>
            <a:br>
              <a:rPr lang="fr-FR" sz="800" dirty="0">
                <a:latin typeface="Montserrat"/>
              </a:rPr>
            </a:br>
            <a:endParaRPr lang="fr-FR" sz="800" dirty="0">
              <a:latin typeface="Montserrat"/>
            </a:endParaRPr>
          </a:p>
          <a:p>
            <a:pPr marL="444489" lvl="8" indent="-82548" defTabSz="914378">
              <a:buSzPts val="500"/>
              <a:buFont typeface="Montserrat"/>
              <a:buChar char="-"/>
            </a:pPr>
            <a:endParaRPr sz="11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BEAC – Zone CEMAC | Mise en place d’une Centrale des Incidents de Paiement (CIP)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Mise en place d’un système de place déployé auprès de plus de 50 établissements bancaires des six pays de la zone CEMAC.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et formalisation des besoins fonctionnels de la Centrale des Incidents de Paiement.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Constitution d’un fichier central des comptes et clients bancaires de la zone.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Fiabilisation des données d’état civil via l’intégration d’une solution d’identification biométrique IDEMIA.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Participation aux phases de conception, tests et validation fonctionnelle.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Accompagnement des banques participantes dans le déploiement de la solution.</a:t>
            </a: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Habiba Cyrine BELHADJ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Senior Transformation Consultant</a:t>
            </a:r>
            <a:endParaRPr lang="en-GB" sz="900" b="1" dirty="0">
              <a:solidFill>
                <a:schemeClr val="dk1"/>
              </a:solidFill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AED1ACC7-73C0-F198-5A26-D9F1E9DF24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65641" y="-2697"/>
            <a:ext cx="1198106" cy="1051800"/>
          </a:xfrm>
          <a:prstGeom prst="ellipse">
            <a:avLst/>
          </a:prstGeom>
        </p:spPr>
      </p:pic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</vt:lpstr>
      <vt:lpstr>Montserrat SemiBold</vt:lpstr>
      <vt:lpstr>Verdana</vt:lpstr>
      <vt:lpstr>Arial</vt:lpstr>
      <vt:lpstr>Montserrat Medium</vt:lpstr>
      <vt:lpstr>Century Gothic</vt:lpstr>
      <vt:lpstr>Montserrat Light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mehdi kallala</cp:lastModifiedBy>
  <cp:revision>130</cp:revision>
  <dcterms:modified xsi:type="dcterms:W3CDTF">2026-08-17T08:33:34Z</dcterms:modified>
</cp:coreProperties>
</file>